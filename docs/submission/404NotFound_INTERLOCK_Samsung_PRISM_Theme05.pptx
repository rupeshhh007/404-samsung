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>
      <p:cViewPr varScale="1">
        <p:scale>
          <a:sx n="120" d="100"/>
          <a:sy n="120" d="100"/>
        </p:scale>
        <p:origin x="28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704EA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363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704EA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363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704EA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704EA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637457"/>
            <a:ext cx="103695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704EA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547" y="1654835"/>
            <a:ext cx="9124315" cy="2324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363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peshhh007/404-samsung" TargetMode="External"/><Relationship Id="rId2" Type="http://schemas.openxmlformats.org/officeDocument/2006/relationships/hyperlink" Target="mailto:rupesh.tripathi2024@vitstudent.ac.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peshhh007/404-samsu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peshhh007/404-samsung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7240" y="676655"/>
            <a:ext cx="2423160" cy="347980"/>
          </a:xfrm>
          <a:custGeom>
            <a:avLst/>
            <a:gdLst/>
            <a:ahLst/>
            <a:cxnLst/>
            <a:rect l="l" t="t" r="r" b="b"/>
            <a:pathLst>
              <a:path w="2423160" h="347980">
                <a:moveTo>
                  <a:pt x="0" y="173735"/>
                </a:moveTo>
                <a:lnTo>
                  <a:pt x="6206" y="127550"/>
                </a:lnTo>
                <a:lnTo>
                  <a:pt x="23720" y="86048"/>
                </a:lnTo>
                <a:lnTo>
                  <a:pt x="50886" y="50886"/>
                </a:lnTo>
                <a:lnTo>
                  <a:pt x="86048" y="23720"/>
                </a:lnTo>
                <a:lnTo>
                  <a:pt x="127550" y="6206"/>
                </a:lnTo>
                <a:lnTo>
                  <a:pt x="173735" y="0"/>
                </a:lnTo>
                <a:lnTo>
                  <a:pt x="2249423" y="0"/>
                </a:lnTo>
                <a:lnTo>
                  <a:pt x="2315909" y="13224"/>
                </a:lnTo>
                <a:lnTo>
                  <a:pt x="2372273" y="50886"/>
                </a:lnTo>
                <a:lnTo>
                  <a:pt x="2409935" y="107250"/>
                </a:lnTo>
                <a:lnTo>
                  <a:pt x="2423159" y="173735"/>
                </a:lnTo>
                <a:lnTo>
                  <a:pt x="2416953" y="219921"/>
                </a:lnTo>
                <a:lnTo>
                  <a:pt x="2399439" y="261423"/>
                </a:lnTo>
                <a:lnTo>
                  <a:pt x="2372273" y="296585"/>
                </a:lnTo>
                <a:lnTo>
                  <a:pt x="2337111" y="323751"/>
                </a:lnTo>
                <a:lnTo>
                  <a:pt x="2295609" y="341265"/>
                </a:lnTo>
                <a:lnTo>
                  <a:pt x="2249423" y="347471"/>
                </a:lnTo>
                <a:lnTo>
                  <a:pt x="173735" y="347471"/>
                </a:lnTo>
                <a:lnTo>
                  <a:pt x="127550" y="341265"/>
                </a:lnTo>
                <a:lnTo>
                  <a:pt x="86048" y="323751"/>
                </a:lnTo>
                <a:lnTo>
                  <a:pt x="50886" y="296585"/>
                </a:lnTo>
                <a:lnTo>
                  <a:pt x="23720" y="261423"/>
                </a:lnTo>
                <a:lnTo>
                  <a:pt x="6206" y="219921"/>
                </a:lnTo>
                <a:lnTo>
                  <a:pt x="0" y="173735"/>
                </a:lnTo>
                <a:close/>
              </a:path>
            </a:pathLst>
          </a:custGeom>
          <a:ln w="12699">
            <a:solidFill>
              <a:srgbClr val="D9D3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78897" y="748284"/>
            <a:ext cx="12198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6C28D9"/>
                </a:solidFill>
                <a:latin typeface="Arial"/>
                <a:cs typeface="Arial"/>
              </a:rPr>
              <a:t>SAMSUNG</a:t>
            </a:r>
            <a:r>
              <a:rPr sz="1100" b="1" spc="-25" dirty="0">
                <a:solidFill>
                  <a:srgbClr val="6C28D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6C28D9"/>
                </a:solidFill>
                <a:latin typeface="Arial"/>
                <a:cs typeface="Arial"/>
              </a:rPr>
              <a:t>PRISM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64540" y="1162811"/>
            <a:ext cx="4093845" cy="14827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>
              <a:lnSpc>
                <a:spcPts val="5470"/>
              </a:lnSpc>
              <a:spcBef>
                <a:spcPts val="720"/>
              </a:spcBef>
            </a:pPr>
            <a:r>
              <a:rPr sz="5000" dirty="0">
                <a:solidFill>
                  <a:srgbClr val="14142B"/>
                </a:solidFill>
                <a:latin typeface="Arial"/>
                <a:cs typeface="Arial"/>
              </a:rPr>
              <a:t>Generative</a:t>
            </a:r>
            <a:r>
              <a:rPr sz="5000" spc="-235" dirty="0">
                <a:solidFill>
                  <a:srgbClr val="14142B"/>
                </a:solidFill>
                <a:latin typeface="Arial"/>
                <a:cs typeface="Arial"/>
              </a:rPr>
              <a:t> </a:t>
            </a:r>
            <a:r>
              <a:rPr sz="5000" spc="-25" dirty="0">
                <a:solidFill>
                  <a:srgbClr val="14142B"/>
                </a:solidFill>
                <a:latin typeface="Arial"/>
                <a:cs typeface="Arial"/>
              </a:rPr>
              <a:t>AI </a:t>
            </a:r>
            <a:r>
              <a:rPr sz="5000" spc="-10" dirty="0">
                <a:solidFill>
                  <a:srgbClr val="6C28D9"/>
                </a:solidFill>
                <a:latin typeface="Arial"/>
                <a:cs typeface="Arial"/>
              </a:rPr>
              <a:t>Hackathon</a:t>
            </a:r>
            <a:endParaRPr sz="5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4532" y="2801111"/>
            <a:ext cx="1038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3637E"/>
                </a:solidFill>
                <a:latin typeface="Calibri"/>
                <a:cs typeface="Calibri"/>
              </a:rPr>
              <a:t>2026</a:t>
            </a:r>
            <a:r>
              <a:rPr sz="2000" spc="-30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3637E"/>
                </a:solidFill>
                <a:latin typeface="Calibri"/>
                <a:cs typeface="Calibri"/>
              </a:rPr>
              <a:t>–</a:t>
            </a:r>
            <a:r>
              <a:rPr sz="2000" spc="-1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63637E"/>
                </a:solidFill>
                <a:latin typeface="Calibri"/>
                <a:cs typeface="Calibri"/>
              </a:rPr>
              <a:t>27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944" y="2788920"/>
            <a:ext cx="6400800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Theme ID  </a:t>
            </a:r>
            <a:r>
              <a:rPr sz="1400" dirty="0">
                <a:solidFill>
                  <a:srgbClr val="77758A"/>
                </a:solidFill>
                <a:latin typeface="Arial"/>
              </a:rPr>
              <a:t>05</a:t>
            </a:r>
            <a:endParaRPr sz="2500" dirty="0">
              <a:latin typeface="Arial"/>
              <a:cs typeface="Arial"/>
            </a:endParaRP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Project  </a:t>
            </a:r>
            <a:r>
              <a:rPr sz="1400" dirty="0">
                <a:solidFill>
                  <a:srgbClr val="77758A"/>
                </a:solidFill>
                <a:latin typeface="Arial"/>
              </a:rPr>
              <a:t>INTERLOCK — Reality, without guesswork.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Team name  </a:t>
            </a:r>
            <a:r>
              <a:rPr sz="1400" dirty="0">
                <a:solidFill>
                  <a:srgbClr val="77758A"/>
                </a:solidFill>
                <a:latin typeface="Arial"/>
              </a:rPr>
              <a:t>404NotFound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College  </a:t>
            </a:r>
            <a:r>
              <a:rPr sz="1400" dirty="0">
                <a:solidFill>
                  <a:srgbClr val="77758A"/>
                </a:solidFill>
                <a:latin typeface="Arial"/>
              </a:rPr>
              <a:t>Vellore Institute of Technology, Vellore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Member 1  </a:t>
            </a:r>
            <a:r>
              <a:rPr sz="1300" dirty="0">
                <a:solidFill>
                  <a:srgbClr val="77758A"/>
                </a:solidFill>
                <a:latin typeface="Arial"/>
              </a:rPr>
              <a:t>Rohan Chaudhary  ·  rohan.chaudhary2024@vitstudent.ac.in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Member 2  </a:t>
            </a:r>
            <a:r>
              <a:rPr sz="1300" dirty="0">
                <a:solidFill>
                  <a:srgbClr val="77758A"/>
                </a:solidFill>
                <a:latin typeface="Arial"/>
              </a:rPr>
              <a:t>Amrit Kumar  ·  amrit.kumar2024@vitstudent.ac.in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Member 3  </a:t>
            </a:r>
            <a:r>
              <a:rPr sz="1300" dirty="0">
                <a:solidFill>
                  <a:srgbClr val="77758A"/>
                </a:solidFill>
                <a:latin typeface="Arial"/>
              </a:rPr>
              <a:t>Rupesh Tripathi  ·  </a:t>
            </a:r>
            <a:r>
              <a:rPr sz="1300" dirty="0">
                <a:solidFill>
                  <a:srgbClr val="77758A"/>
                </a:solidFill>
                <a:latin typeface="Arial"/>
                <a:hlinkClick r:id="rId2"/>
              </a:rPr>
              <a:t>rupesh.tripathi2024@vitstudent.ac.in</a:t>
            </a:r>
            <a:endParaRPr lang="en-US" sz="1300" dirty="0">
              <a:solidFill>
                <a:srgbClr val="77758A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IN" sz="1300" b="1" dirty="0">
                <a:solidFill>
                  <a:schemeClr val="tx1"/>
                </a:solidFill>
                <a:latin typeface="Arial"/>
              </a:rPr>
              <a:t>Member 4   </a:t>
            </a:r>
            <a:r>
              <a:rPr lang="en-IN" sz="1300" dirty="0">
                <a:solidFill>
                  <a:srgbClr val="77758A"/>
                </a:solidFill>
                <a:latin typeface="Arial"/>
              </a:rPr>
              <a:t>Abhinav Anand .   abhinav.anand2024b@vitstudent.ac.in</a:t>
            </a:r>
            <a:endParaRPr sz="1300" dirty="0">
              <a:solidFill>
                <a:srgbClr val="77758A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81629"/>
                </a:solidFill>
                <a:latin typeface="Arial"/>
              </a:rPr>
              <a:t>Submission  </a:t>
            </a:r>
            <a:r>
              <a:rPr sz="1400" dirty="0">
                <a:solidFill>
                  <a:srgbClr val="77758A"/>
                </a:solidFill>
                <a:latin typeface="Arial"/>
                <a:hlinkClick r:id="rId3"/>
              </a:rPr>
              <a:t>github.com/rupeshhh007/404-samsung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9168" y="1051560"/>
            <a:ext cx="4571999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500" b="1">
                <a:solidFill>
                  <a:srgbClr val="181629"/>
                </a:solidFill>
                <a:latin typeface="Arial"/>
              </a:rPr>
              <a:t>Theme 05 — Voice-native, interruption-safe agents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PROBLEM /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46504"/>
            <a:ext cx="46634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WHAT CHANGES WHEN PEOPLE INTERRUPT AN AGENT?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4800600" cy="12161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2900" b="1" i="0">
                <a:solidFill>
                  <a:srgbClr val="181629"/>
                </a:solidFill>
                <a:latin typeface="Georgia"/>
              </a:rPr>
              <a:t>Voice is fluid.</a:t>
            </a:r>
          </a:p>
          <a:p>
            <a:pPr>
              <a:spcAft>
                <a:spcPts val="100"/>
              </a:spcAft>
            </a:pPr>
            <a:r>
              <a:rPr sz="2900" b="1" i="0">
                <a:solidFill>
                  <a:srgbClr val="181629"/>
                </a:solidFill>
                <a:latin typeface="Georgia"/>
              </a:rPr>
              <a:t>External effects are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520440"/>
            <a:ext cx="4617720" cy="1316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500" b="0" i="0">
                <a:solidFill>
                  <a:srgbClr val="77758A"/>
                </a:solidFill>
                <a:latin typeface="Arial"/>
              </a:rPr>
              <a:t>A correction can arrive before, during, or after a tool commits. INTERLOCK tracks what the user wants and what the external world actually did — without conflating either with fluent speech.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5138928"/>
            <a:ext cx="4608576" cy="68580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5349240"/>
            <a:ext cx="437083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300" b="1" i="0">
                <a:solidFill>
                  <a:srgbClr val="5D2AE5"/>
                </a:solidFill>
                <a:latin typeface="Arial"/>
              </a:rPr>
              <a:t>ANTICIPATE  •  ADAPT  •  VERIFY</a:t>
            </a:r>
          </a:p>
        </p:txBody>
      </p:sp>
      <p:pic>
        <p:nvPicPr>
          <p:cNvPr id="11" name="Picture 10" descr="_interlock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52313"/>
            <a:ext cx="5266944" cy="27453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5239512"/>
            <a:ext cx="484632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77758A"/>
                </a:solidFill>
                <a:latin typeface="Arial"/>
              </a:rPr>
              <a:t>Product landing view  ·  INTERLOCK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172200"/>
            <a:ext cx="987552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77758A"/>
                </a:solidFill>
                <a:latin typeface="Arial"/>
              </a:rPr>
              <a:t>Theme ID 05  •  Samsung PRISM Generative AI Hackathon, 3rd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Existing Solutions &amp; Gaps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WHY CURRENT ASSISTANTS CAN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1828800"/>
            <a:ext cx="3218688" cy="25420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9264" y="1828800"/>
            <a:ext cx="50292" cy="2542032"/>
          </a:xfrm>
          <a:prstGeom prst="rect">
            <a:avLst/>
          </a:prstGeom>
          <a:solidFill>
            <a:srgbClr val="5D2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96596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5D2AE5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947672"/>
            <a:ext cx="236829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Fast reply, weak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340864"/>
            <a:ext cx="2816352" cy="18928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An acknowledgement or tool timeout can be mistaken for a completed action; certainty outruns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18688" cy="25420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50292" cy="2542032"/>
          </a:xfrm>
          <a:prstGeom prst="rect">
            <a:avLst/>
          </a:prstGeom>
          <a:solidFill>
            <a:srgbClr val="2A6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A60C8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47672"/>
            <a:ext cx="236829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Corrections create 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40864"/>
            <a:ext cx="2816352" cy="18928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An old booking may commit after the user changes their mind. The late effect must not disappear.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1272" y="1828800"/>
            <a:ext cx="3218688" cy="25420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91272" y="1828800"/>
            <a:ext cx="50292" cy="2542032"/>
          </a:xfrm>
          <a:prstGeom prst="rect">
            <a:avLst/>
          </a:prstGeom>
          <a:solidFill>
            <a:srgbClr val="0B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4572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0B918C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1947672"/>
            <a:ext cx="236829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Speech ≠ tool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340864"/>
            <a:ext cx="2816352" cy="18928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Stopping TTS must not automatically undo a provider operation. Barge-in and task cancellation differ.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4764024"/>
            <a:ext cx="10140696" cy="932688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7864" y="4910328"/>
            <a:ext cx="502920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CORE RESEARCH / ENGINEERING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212080"/>
            <a:ext cx="9628632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38208C"/>
                </a:solidFill>
                <a:latin typeface="Arial"/>
              </a:rPr>
              <a:t>No single consistency boundary across evolving intent, provider effects, verified claims and interruptible speech.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2942" y="538845"/>
            <a:ext cx="876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Our Solution &amp; Architecture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SINGLE-AUTHORITY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1801368"/>
            <a:ext cx="914400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DATA FLOW · BROWSER MICROPHONE AND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139696"/>
            <a:ext cx="1673352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313432"/>
            <a:ext cx="1490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70048"/>
            <a:ext cx="14904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 b="0" i="0">
                <a:solidFill>
                  <a:srgbClr val="77758A"/>
                </a:solidFill>
                <a:latin typeface="Arial"/>
              </a:rPr>
              <a:t>Mic /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39696"/>
            <a:ext cx="1673352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313432"/>
            <a:ext cx="1490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LIVEKIT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70048"/>
            <a:ext cx="14904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 b="0" i="0">
                <a:solidFill>
                  <a:srgbClr val="77758A"/>
                </a:solidFill>
                <a:latin typeface="Arial"/>
              </a:rPr>
              <a:t>STT / TTS / VAD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2139696"/>
            <a:ext cx="1673352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2313432"/>
            <a:ext cx="1490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670048"/>
            <a:ext cx="14904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 b="0" i="0">
                <a:solidFill>
                  <a:srgbClr val="77758A"/>
                </a:solidFill>
                <a:latin typeface="Arial"/>
              </a:rPr>
              <a:t>Authenticated 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4304" y="2139696"/>
            <a:ext cx="1673352" cy="1024128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0160">
            <a:solidFill>
              <a:srgbClr val="5D2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95744" y="2313432"/>
            <a:ext cx="1490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70048"/>
            <a:ext cx="14904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 b="0" i="0">
                <a:solidFill>
                  <a:srgbClr val="77758A"/>
                </a:solidFill>
                <a:latin typeface="Arial"/>
              </a:rPr>
              <a:t>Journal + reducer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2139696"/>
            <a:ext cx="1673352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2313432"/>
            <a:ext cx="1490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670048"/>
            <a:ext cx="14904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 b="0" i="0">
                <a:solidFill>
                  <a:srgbClr val="77758A"/>
                </a:solidFill>
                <a:latin typeface="Arial"/>
              </a:rPr>
              <a:t>SAFEPOINT + tools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24912" y="2651760"/>
            <a:ext cx="274320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44368" y="2505456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18304" y="2651760"/>
            <a:ext cx="274320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0" y="2505456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11696" y="2651760"/>
            <a:ext cx="274320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31152" y="2505456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05088" y="2651760"/>
            <a:ext cx="274320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24544" y="2505456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38944" y="3163824"/>
            <a:ext cx="0" cy="621791"/>
          </a:xfrm>
          <a:prstGeom prst="line">
            <a:avLst/>
          </a:prstGeom>
          <a:ln w="2032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096512" y="4379976"/>
            <a:ext cx="402336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986784" y="4233672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3886200"/>
            <a:ext cx="2926080" cy="941832"/>
          </a:xfrm>
          <a:prstGeom prst="roundRect">
            <a:avLst>
              <a:gd name="adj" fmla="val 9000"/>
            </a:avLst>
          </a:prstGeom>
          <a:solidFill>
            <a:srgbClr val="F7F8FB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4014215"/>
            <a:ext cx="261518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CONSOLE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334256"/>
            <a:ext cx="261518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77758A"/>
                </a:solidFill>
                <a:latin typeface="Arial"/>
              </a:rPr>
              <a:t>Backend projection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08576" y="3886200"/>
            <a:ext cx="2926080" cy="941832"/>
          </a:xfrm>
          <a:prstGeom prst="roundRect">
            <a:avLst>
              <a:gd name="adj" fmla="val 9000"/>
            </a:avLst>
          </a:prstGeom>
          <a:solidFill>
            <a:srgbClr val="F7F8FB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73168" y="4014215"/>
            <a:ext cx="261518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TRUTHLOCK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334256"/>
            <a:ext cx="261518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77758A"/>
                </a:solidFill>
                <a:latin typeface="Arial"/>
              </a:rPr>
              <a:t>Claim-based speech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7304" y="3886200"/>
            <a:ext cx="2926080" cy="941832"/>
          </a:xfrm>
          <a:prstGeom prst="roundRect">
            <a:avLst>
              <a:gd name="adj" fmla="val 9000"/>
            </a:avLst>
          </a:prstGeom>
          <a:solidFill>
            <a:srgbClr val="F7F8FB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11896" y="4014215"/>
            <a:ext cx="261518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200" b="1" i="0">
                <a:solidFill>
                  <a:srgbClr val="181629"/>
                </a:solidFill>
                <a:latin typeface="Arial"/>
              </a:rPr>
              <a:t>PROVIDER FACTS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334256"/>
            <a:ext cx="2615184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77758A"/>
                </a:solidFill>
                <a:latin typeface="Arial"/>
              </a:rPr>
              <a:t>Evidence + world effects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616952" y="4379976"/>
            <a:ext cx="448056" cy="0"/>
          </a:xfrm>
          <a:prstGeom prst="line">
            <a:avLst/>
          </a:prstGeom>
          <a:ln w="25400">
            <a:solidFill>
              <a:srgbClr val="5D2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507224" y="4233672"/>
            <a:ext cx="18288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000" b="1" i="0">
                <a:solidFill>
                  <a:srgbClr val="5D2AE5"/>
                </a:solidFill>
                <a:latin typeface="Arial"/>
              </a:rPr>
              <a:t>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4128" y="5266944"/>
            <a:ext cx="10067544" cy="55778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52728" y="5404104"/>
            <a:ext cx="9683496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10" b="1" i="0">
                <a:solidFill>
                  <a:srgbClr val="38208C"/>
                </a:solidFill>
                <a:latin typeface="Arial"/>
              </a:rPr>
              <a:t>ONE backend Application owns intent, operations, effects, claims, TRUTHLOCK and ProjectionHub.  LiveKit is audio transport only.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6071616"/>
            <a:ext cx="10058400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80" b="0" i="0">
                <a:solidFill>
                  <a:srgbClr val="77758A"/>
                </a:solidFill>
                <a:latin typeface="Arial"/>
              </a:rPr>
              <a:t>Provider in Samsung extension: deterministic, simulated samsung-demo-v1  ·  Consequential work passes authorization + SAFEPOINT.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Demo &amp; Product Walkthrough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PRODUCT EVIDENCE · SIMULATED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10512"/>
            <a:ext cx="502920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5352" y="1810512"/>
            <a:ext cx="502920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interlock_i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907363"/>
            <a:ext cx="4791456" cy="2522065"/>
          </a:xfrm>
          <a:prstGeom prst="rect">
            <a:avLst/>
          </a:prstGeom>
        </p:spPr>
      </p:pic>
      <p:pic>
        <p:nvPicPr>
          <p:cNvPr id="9" name="Picture 8" descr="_interlock_book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7813"/>
            <a:ext cx="4791456" cy="2481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4489704"/>
            <a:ext cx="46634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01  START FROM A TRUTHFUL BLANK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489704"/>
            <a:ext cx="46634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02  OBSERVE AN 11:00 CONFIRMED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54880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77758A"/>
                </a:solidFill>
                <a:latin typeface="Arial"/>
              </a:rPr>
              <a:t>No provider effects yet · no invented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54880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00" b="0" i="0">
                <a:solidFill>
                  <a:srgbClr val="77758A"/>
                </a:solidFill>
                <a:latin typeface="Arial"/>
              </a:rPr>
              <a:t>Desired 11:00 = world 11:00 · truth-gated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394960"/>
            <a:ext cx="10314432" cy="612648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98298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38208C"/>
                </a:solidFill>
                <a:latin typeface="Arial"/>
              </a:rPr>
              <a:t>INPUT  →  INTENT  →  SAFEPOINT / TOOL  →  AUTHORITATIVE EFFECT  →  CLAIM  →  APPROVED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6117336"/>
            <a:ext cx="100584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60" b="0" i="0">
                <a:solidFill>
                  <a:srgbClr val="77758A"/>
                </a:solidFill>
                <a:latin typeface="Arial"/>
              </a:rPr>
              <a:t>Captured Console screens; Samsung service booking is simulated, not a real Samsung API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Tools &amp; Tech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IMPLEMENTATION / TESTED DEPENDENCY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01368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2688" y="1801368"/>
            <a:ext cx="50292" cy="1682496"/>
          </a:xfrm>
          <a:prstGeom prst="rect">
            <a:avLst/>
          </a:prstGeom>
          <a:solidFill>
            <a:srgbClr val="5D2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920240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313432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React · TypeScript · Vite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Tailwind CSS · LiveKit browser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01368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1801368"/>
            <a:ext cx="50292" cy="1682496"/>
          </a:xfrm>
          <a:prstGeom prst="rect">
            <a:avLst/>
          </a:prstGeom>
          <a:solidFill>
            <a:srgbClr val="2A6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API &amp;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13432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Python 3.11 · FastAPI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Session journal · pure reducer · WebSocket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1801368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0416" y="1801368"/>
            <a:ext cx="50292" cy="1682496"/>
          </a:xfrm>
          <a:prstGeom prst="rect">
            <a:avLst/>
          </a:prstGeom>
          <a:solidFill>
            <a:srgbClr val="0B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920240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Audio 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LiveKit Agents 1.8.4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Deepgram Nova-3 · Cartesia Sonic-3 · Silero VAD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694176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" y="3694176"/>
            <a:ext cx="50292" cy="1682496"/>
          </a:xfrm>
          <a:prstGeom prst="rect">
            <a:avLst/>
          </a:prstGeom>
          <a:solidFill>
            <a:srgbClr val="5D2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" y="3813048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Execution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4206240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ToolRegistry · SAFEPOINT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Idempotency · deterministic fake provider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694176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3694176"/>
            <a:ext cx="50292" cy="1682496"/>
          </a:xfrm>
          <a:prstGeom prst="rect">
            <a:avLst/>
          </a:prstGeom>
          <a:solidFill>
            <a:srgbClr val="2A6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3813048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Truth &amp;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206240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Immutable evidence · EffectInterpreter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ClaimGraph · TRUTHLOCK · Black 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416" y="3694176"/>
            <a:ext cx="3227832" cy="16824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00416" y="3694176"/>
            <a:ext cx="50292" cy="1682496"/>
          </a:xfrm>
          <a:prstGeom prst="rect">
            <a:avLst/>
          </a:prstGeom>
          <a:solidFill>
            <a:srgbClr val="0B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3813048"/>
            <a:ext cx="287121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06240"/>
            <a:ext cx="2825496" cy="10332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pytest · Vitest · trace/scenario tests</a:t>
            </a:r>
          </a:p>
          <a:p>
            <a:pPr>
              <a:spcAft>
                <a:spcPts val="100"/>
              </a:spcAft>
            </a:pPr>
            <a:r>
              <a:rPr sz="1140" b="0" i="0">
                <a:solidFill>
                  <a:srgbClr val="77758A"/>
                </a:solidFill>
                <a:latin typeface="Arial"/>
              </a:rPr>
              <a:t>Reproducible FDB-v3 runner scaffold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" y="5715000"/>
            <a:ext cx="10186416" cy="41148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2" y="5815584"/>
            <a:ext cx="987552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00" b="1" i="0">
                <a:solidFill>
                  <a:srgbClr val="38208C"/>
                </a:solidFill>
                <a:latin typeface="Arial"/>
              </a:rPr>
              <a:t>Credentialed LiveKit audio and official FDB-v3 metrics require a separate measured run; no score is claimed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Impact &amp; Use Cases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ONE USER REQUEST · THREE POSSIBLE REALITIES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3200400" cy="31638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2057400"/>
            <a:ext cx="2862072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0B918C"/>
                </a:solidFill>
                <a:latin typeface="Arial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32888"/>
            <a:ext cx="281635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2300" b="1" i="0">
                <a:solidFill>
                  <a:srgbClr val="181629"/>
                </a:solidFill>
                <a:latin typeface="Georgia"/>
              </a:rPr>
              <a:t>“Book eleven.”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3602736"/>
            <a:ext cx="2798063" cy="0"/>
          </a:xfrm>
          <a:prstGeom prst="line">
            <a:avLst/>
          </a:prstGeom>
          <a:ln w="1270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33856" y="3749039"/>
            <a:ext cx="2871216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Intent 11  =  World 11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A supported confirmation may be spoken.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47088"/>
            <a:ext cx="3200400" cy="31638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2862072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EARLY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32888"/>
            <a:ext cx="281635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2300" b="1" i="0">
                <a:solidFill>
                  <a:srgbClr val="181629"/>
                </a:solidFill>
                <a:latin typeface="Georgia"/>
              </a:rPr>
              <a:t>“Actually make it twelve.”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81144" y="3602736"/>
            <a:ext cx="2798064" cy="0"/>
          </a:xfrm>
          <a:prstGeom prst="line">
            <a:avLst/>
          </a:prstGeom>
          <a:ln w="1270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3749039"/>
            <a:ext cx="2871216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11 safely cancelled before effect.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Only 12 may commit.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6408" y="1847088"/>
            <a:ext cx="3200400" cy="31638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0144" y="2057400"/>
            <a:ext cx="2862072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A33A48"/>
                </a:solidFill>
                <a:latin typeface="Arial"/>
              </a:rPr>
              <a:t>LATE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2532888"/>
            <a:ext cx="2816352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2300" b="1" i="0">
                <a:solidFill>
                  <a:srgbClr val="181629"/>
                </a:solidFill>
                <a:latin typeface="Georgia"/>
              </a:rPr>
              <a:t>“Actually make it twelve.”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9288" y="3602736"/>
            <a:ext cx="2798064" cy="0"/>
          </a:xfrm>
          <a:prstGeom prst="line">
            <a:avLst/>
          </a:prstGeom>
          <a:ln w="1270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10144" y="3749039"/>
            <a:ext cx="2871216" cy="9784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11 already committed; desired 12.</a:t>
            </a:r>
          </a:p>
          <a:p>
            <a:pPr>
              <a:spcAft>
                <a:spcPts val="100"/>
              </a:spcAft>
            </a:pPr>
            <a:r>
              <a:rPr sz="1200" b="0" i="0">
                <a:solidFill>
                  <a:srgbClr val="77758A"/>
                </a:solidFill>
                <a:latin typeface="Arial"/>
              </a:rPr>
              <a:t>Surface OPEN divergence — no false 12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5422392"/>
            <a:ext cx="39319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WHERE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705856"/>
            <a:ext cx="100584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181629"/>
                </a:solidFill>
                <a:latin typeface="Arial"/>
              </a:rPr>
              <a:t>Service appointments  •  Order changes  •  Repair workflows  •  Other consequential voice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Innovation, Results &amp; 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WHAT IS DIFFERENTIATED · WHAT IS EVIDENCED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92224"/>
            <a:ext cx="4882896" cy="363931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43584" y="2048256"/>
            <a:ext cx="411480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DIFFERENTIATORS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468880"/>
            <a:ext cx="427939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Intent ≠ observed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825496"/>
            <a:ext cx="427939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77758A"/>
                </a:solidFill>
                <a:latin typeface="Arial"/>
              </a:rPr>
              <a:t>Both are first-class projections.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401568"/>
            <a:ext cx="427939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Speech ≠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758184"/>
            <a:ext cx="427939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77758A"/>
                </a:solidFill>
                <a:latin typeface="Arial"/>
              </a:rPr>
              <a:t>Claims pass TRUTHLOCK and playout proof.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34256"/>
            <a:ext cx="427939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181629"/>
                </a:solidFill>
                <a:latin typeface="Arial"/>
              </a:rPr>
              <a:t>Replayable causality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4690872"/>
            <a:ext cx="427939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77758A"/>
                </a:solidFill>
                <a:latin typeface="Arial"/>
              </a:rPr>
              <a:t>Journal sequence + correlated events explain why.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92224"/>
            <a:ext cx="5129784" cy="36393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2048256"/>
            <a:ext cx="448056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RESULTS /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4507992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0" i="0">
                <a:solidFill>
                  <a:srgbClr val="181629"/>
                </a:solidFill>
                <a:latin typeface="Arial"/>
              </a:rPr>
              <a:t>Visible demo capture: one booking operation, one authoritative effect and one claim, with a 28-event causal record.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64224" y="3621024"/>
            <a:ext cx="4562856" cy="0"/>
          </a:xfrm>
          <a:prstGeom prst="line">
            <a:avLst/>
          </a:prstGeom>
          <a:ln w="1270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73368" y="3767328"/>
            <a:ext cx="448056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A33A48"/>
                </a:solidFill>
                <a:latin typeface="Arial"/>
              </a:rPr>
              <a:t>LIMITATIONS (DISCLOSED)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87368"/>
            <a:ext cx="4489704" cy="10241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210" b="0" i="0">
                <a:solidFill>
                  <a:srgbClr val="77758A"/>
                </a:solidFill>
                <a:latin typeface="Arial"/>
              </a:rPr>
              <a:t>Samsung tools use a simulated provider. Credentialed browser STT/TTS smoke and official benchmark scoring are not presented as completed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742432"/>
            <a:ext cx="9966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019" b="0" i="0">
                <a:solidFill>
                  <a:srgbClr val="77758A"/>
                </a:solidFill>
                <a:latin typeface="Arial"/>
              </a:rPr>
              <a:t>No benchmark accuracy, pass-rate or latency numbers are asserted without measured run artifacts.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What’s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FROM REPRODUCIBLE EXTENSION TO MEASURED VOICE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56231"/>
            <a:ext cx="10149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43584" y="2048255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700" b="1" i="0">
                <a:solidFill>
                  <a:srgbClr val="5D2AE5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1975103"/>
            <a:ext cx="365760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181629"/>
                </a:solidFill>
                <a:latin typeface="Arial"/>
              </a:rPr>
              <a:t>Credentialed room-to-audio smoke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8" y="1956815"/>
            <a:ext cx="52486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10" b="0" i="0">
                <a:solidFill>
                  <a:srgbClr val="77758A"/>
                </a:solidFill>
                <a:latin typeface="Arial"/>
              </a:rPr>
              <a:t>Record normal, early/late correction, barge-in, partial safety and room isolation in a real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62072"/>
            <a:ext cx="10149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3584" y="3054096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700" b="1" i="0">
                <a:solidFill>
                  <a:srgbClr val="5D2AE5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980944"/>
            <a:ext cx="365760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181629"/>
                </a:solidFill>
                <a:latin typeface="Arial"/>
              </a:rPr>
              <a:t>Official FDB-v3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0408" y="2962656"/>
            <a:ext cx="52486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10" b="0" i="0">
                <a:solidFill>
                  <a:srgbClr val="77758A"/>
                </a:solidFill>
                <a:latin typeface="Arial"/>
              </a:rPr>
              <a:t>Run the pinned evaluator with the official dataset; publish raw artifacts, provenance and measured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67912"/>
            <a:ext cx="10149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43584" y="4059936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700" b="1" i="0">
                <a:solidFill>
                  <a:srgbClr val="5D2AE5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3986784"/>
            <a:ext cx="365760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181629"/>
                </a:solidFill>
                <a:latin typeface="Arial"/>
              </a:rPr>
              <a:t>Production-grade provider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3968496"/>
            <a:ext cx="52486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10" b="0" i="0">
                <a:solidFill>
                  <a:srgbClr val="77758A"/>
                </a:solidFill>
                <a:latin typeface="Arial"/>
              </a:rPr>
              <a:t>Replace Samsung-shaped fake provider with authorized integrations without changing domain truth invariants.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873752"/>
            <a:ext cx="10149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3584" y="5065776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700" b="1" i="0">
                <a:solidFill>
                  <a:srgbClr val="5D2AE5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7672" y="4992624"/>
            <a:ext cx="365760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181629"/>
                </a:solidFill>
                <a:latin typeface="Arial"/>
              </a:rPr>
              <a:t>Capability-gated reconciliation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8" y="4974336"/>
            <a:ext cx="52486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10" b="0" i="0">
                <a:solidFill>
                  <a:srgbClr val="77758A"/>
                </a:solidFill>
                <a:latin typeface="Arial"/>
              </a:rPr>
              <a:t>Extend divergence from transparent detection to explicitly authorized, verified repair when supported.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6126480"/>
            <a:ext cx="996696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80" b="0" i="0">
                <a:solidFill>
                  <a:srgbClr val="77758A"/>
                </a:solidFill>
                <a:latin typeface="Arial"/>
              </a:rPr>
              <a:t>Next-step items are planned work, not a claim of shipped production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b="1">
                <a:solidFill>
                  <a:srgbClr val="181629"/>
                </a:solidFill>
                <a:latin typeface="Arial"/>
              </a:rPr>
              <a:t>Brownie Points — Black Box Audit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INSPECTABLE CAUSALITY · NOT A CHAT-ONLY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01368"/>
            <a:ext cx="10131552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interlock_black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63" y="1892807"/>
            <a:ext cx="7205304" cy="3831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" y="5861304"/>
            <a:ext cx="98938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70" b="1" i="0">
                <a:solidFill>
                  <a:srgbClr val="181629"/>
                </a:solidFill>
                <a:latin typeface="Arial"/>
              </a:rPr>
              <a:t>Forensic timeline: INTENT · EXECUTION · REALITY · VOICE, with event-level sequence and correlated projection diffs.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6163056"/>
            <a:ext cx="987552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80" b="0" i="0">
                <a:solidFill>
                  <a:srgbClr val="77758A"/>
                </a:solidFill>
                <a:latin typeface="Arial"/>
              </a:rPr>
              <a:t>Illustrative captured state: 28 journal events; OPS 1 · EFFECTS 1 · CLAIMS 1 · DIVERGENCES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500" b="1">
                <a:solidFill>
                  <a:srgbClr val="181629"/>
                </a:solidFill>
                <a:latin typeface="Arial"/>
              </a:rPr>
              <a:t>Checklist — Public GitHub Submission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14400" y="1335024"/>
            <a:ext cx="10287000" cy="0"/>
          </a:xfrm>
          <a:prstGeom prst="line">
            <a:avLst/>
          </a:prstGeom>
          <a:ln w="16510">
            <a:solidFill>
              <a:srgbClr val="E4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2688" y="1362456"/>
            <a:ext cx="731520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EVALUATOR HANDOFF /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6483096"/>
            <a:ext cx="758952" cy="1463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 i="0">
                <a:solidFill>
                  <a:srgbClr val="77758A"/>
                </a:solidFill>
                <a:latin typeface="Arial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892807"/>
            <a:ext cx="9921240" cy="640080"/>
          </a:xfrm>
          <a:prstGeom prst="roundRect">
            <a:avLst>
              <a:gd name="adj" fmla="val 9000"/>
            </a:avLst>
          </a:prstGeom>
          <a:solidFill>
            <a:srgbClr val="F7F8FB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020824"/>
            <a:ext cx="3749039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300" b="1" i="0">
                <a:solidFill>
                  <a:srgbClr val="181629"/>
                </a:solidFill>
                <a:latin typeface="Arial"/>
              </a:rPr>
              <a:t>Working prototype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002536"/>
            <a:ext cx="5888736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38208C"/>
                </a:solidFill>
                <a:latin typeface="Arial"/>
              </a:rPr>
              <a:t>YES — code hosted in public 404-samsung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724912"/>
            <a:ext cx="99212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2852928"/>
            <a:ext cx="3749039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300" b="1" i="0">
                <a:solidFill>
                  <a:srgbClr val="181629"/>
                </a:solidFill>
                <a:latin typeface="Arial"/>
              </a:rPr>
              <a:t>Reproducible setup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834640"/>
            <a:ext cx="5888736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38208C"/>
                </a:solidFill>
                <a:latin typeface="Arial"/>
              </a:rPr>
              <a:t>YES — backend/frontend + voice worker commands in README.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7015"/>
            <a:ext cx="9921240" cy="640080"/>
          </a:xfrm>
          <a:prstGeom prst="roundRect">
            <a:avLst>
              <a:gd name="adj" fmla="val 9000"/>
            </a:avLst>
          </a:prstGeom>
          <a:solidFill>
            <a:srgbClr val="F7F8FB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685031"/>
            <a:ext cx="3749039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300" b="1" i="0">
                <a:solidFill>
                  <a:srgbClr val="181629"/>
                </a:solidFill>
                <a:latin typeface="Arial"/>
              </a:rPr>
              <a:t>Demo video (max 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666744"/>
            <a:ext cx="5888736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A33A48"/>
                </a:solidFill>
                <a:latin typeface="Arial"/>
              </a:rPr>
              <a:t>PENDING — link not provided; add after recording.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389120"/>
            <a:ext cx="99212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4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" y="4517136"/>
            <a:ext cx="3749039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300" b="1" i="0">
                <a:solidFill>
                  <a:srgbClr val="181629"/>
                </a:solidFill>
                <a:latin typeface="Arial"/>
              </a:rPr>
              <a:t>Presentation file (PPT / PDF)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4498848"/>
            <a:ext cx="5888736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180" b="0" i="0">
                <a:solidFill>
                  <a:srgbClr val="38208C"/>
                </a:solidFill>
                <a:latin typeface="Arial"/>
              </a:rPr>
              <a:t>PREPARED — deck and PDF generated for repository upload.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5614416"/>
            <a:ext cx="182880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 b="1" i="0">
                <a:solidFill>
                  <a:srgbClr val="5D2AE5"/>
                </a:solidFill>
                <a:latin typeface="Arial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577840"/>
            <a:ext cx="859536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5D2AE5"/>
                </a:solidFill>
                <a:latin typeface="Arial"/>
                <a:hlinkClick r:id="rId2"/>
              </a:rPr>
              <a:t>github.com/rupeshhh007/404-samsung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6025896"/>
            <a:ext cx="10149840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80" b="0" i="0">
                <a:solidFill>
                  <a:srgbClr val="77758A"/>
                </a:solidFill>
                <a:latin typeface="Arial"/>
              </a:rPr>
              <a:t>Voice demo uses a simulated Samsung provider. Actual browser-audio success and benchmark scores require recorded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3481" y="3777965"/>
            <a:ext cx="294449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b="1" dirty="0">
                <a:solidFill>
                  <a:srgbClr val="14142B"/>
                </a:solidFill>
                <a:latin typeface="Arial"/>
                <a:cs typeface="Arial"/>
              </a:rPr>
              <a:t>Thank</a:t>
            </a:r>
            <a:r>
              <a:rPr sz="4600" b="1" spc="-165" dirty="0">
                <a:solidFill>
                  <a:srgbClr val="14142B"/>
                </a:solidFill>
                <a:latin typeface="Arial"/>
                <a:cs typeface="Arial"/>
              </a:rPr>
              <a:t> </a:t>
            </a:r>
            <a:r>
              <a:rPr sz="4600" b="1" spc="-25" dirty="0">
                <a:solidFill>
                  <a:srgbClr val="14142B"/>
                </a:solidFill>
                <a:latin typeface="Arial"/>
                <a:cs typeface="Arial"/>
              </a:rPr>
              <a:t>you</a:t>
            </a:r>
            <a:endParaRPr sz="4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5942076"/>
            <a:ext cx="49206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63637E"/>
                </a:solidFill>
                <a:latin typeface="Calibri"/>
                <a:cs typeface="Calibri"/>
              </a:rPr>
              <a:t>Organised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by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Language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AI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3637E"/>
                </a:solidFill>
                <a:latin typeface="Calibri"/>
                <a:cs typeface="Calibri"/>
              </a:rPr>
              <a:t>Team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PRISM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3637E"/>
                </a:solidFill>
                <a:latin typeface="Calibri"/>
                <a:cs typeface="Calibri"/>
              </a:rPr>
              <a:t>Team,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Samsung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R&amp;D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637E"/>
                </a:solidFill>
                <a:latin typeface="Calibri"/>
                <a:cs typeface="Calibri"/>
              </a:rPr>
              <a:t>Institute</a:t>
            </a:r>
            <a:r>
              <a:rPr sz="1100" spc="-25" dirty="0">
                <a:solidFill>
                  <a:srgbClr val="63637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637E"/>
                </a:solidFill>
                <a:latin typeface="Calibri"/>
                <a:cs typeface="Calibri"/>
              </a:rPr>
              <a:t>India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24912"/>
            <a:ext cx="841248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5D2AE5"/>
                </a:solidFill>
                <a:latin typeface="Arial"/>
              </a:rPr>
              <a:t>TEAM 404NOTFOUND  ·  THEME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62856"/>
            <a:ext cx="4206240" cy="4480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100"/>
              </a:spcAft>
            </a:pPr>
            <a:r>
              <a:rPr sz="2400" b="1" i="0">
                <a:solidFill>
                  <a:srgbClr val="5D2AE5"/>
                </a:solidFill>
                <a:latin typeface="Arial"/>
              </a:rPr>
              <a:t>INTERLOCK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5047488"/>
            <a:ext cx="7022592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700" b="0" i="0">
                <a:solidFill>
                  <a:srgbClr val="181629"/>
                </a:solidFill>
                <a:latin typeface="Arial"/>
              </a:rPr>
              <a:t>Anticipate early. Commit safely.</a:t>
            </a:r>
          </a:p>
          <a:p>
            <a:pPr>
              <a:spcAft>
                <a:spcPts val="100"/>
              </a:spcAft>
            </a:pPr>
            <a:r>
              <a:rPr sz="1700" b="0" i="0">
                <a:solidFill>
                  <a:srgbClr val="181629"/>
                </a:solidFill>
                <a:latin typeface="Arial"/>
              </a:rPr>
              <a:t>Speak only what reality confirms.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971032"/>
            <a:ext cx="3931920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5D2AE5"/>
                </a:solidFill>
                <a:latin typeface="Arial"/>
                <a:hlinkClick r:id="rId2"/>
              </a:rPr>
              <a:t>github.com/rupeshhh007/404-samsung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1057</Words>
  <Application>Microsoft Macintosh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Generative AI Hackathon</vt:lpstr>
      <vt:lpstr>Theme 05 — Voice-native, interruption-safe agents</vt:lpstr>
      <vt:lpstr>Existing Solutions &amp; Gaps</vt:lpstr>
      <vt:lpstr>Our Solution &amp; Architecture Diagram</vt:lpstr>
      <vt:lpstr>Demo &amp; Product Walkthrough</vt:lpstr>
      <vt:lpstr>Tools &amp; Tech Stack</vt:lpstr>
      <vt:lpstr>Impact &amp; Use Cases</vt:lpstr>
      <vt:lpstr>Innovation, Results &amp; Limitations</vt:lpstr>
      <vt:lpstr>What’s Next</vt:lpstr>
      <vt:lpstr>Brownie Points — Black Box Audit</vt:lpstr>
      <vt:lpstr>Checklist — Public GitHub Submission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 Kumar</cp:lastModifiedBy>
  <cp:revision>1</cp:revision>
  <dcterms:created xsi:type="dcterms:W3CDTF">2026-10-16T10:42:35Z</dcterms:created>
  <dcterms:modified xsi:type="dcterms:W3CDTF">2026-10-16T11:19:57Z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2026-10-16T00:00:00Z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2026-10-16T00:00:00Z</vt:filetime>
  </property>
</Properties>
</file>